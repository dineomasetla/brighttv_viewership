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set\Downloads\Bright_TV_Viewership_Query%20(5)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 per week</c:v>
                </c:pt>
              </c:strCache>
            </c:strRef>
          </c:tx>
          <c:spPr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Wk1</c:v>
                </c:pt>
                <c:pt idx="1">
                  <c:v>Wk2</c:v>
                </c:pt>
                <c:pt idx="2">
                  <c:v>Wk3</c:v>
                </c:pt>
                <c:pt idx="3">
                  <c:v>Wk4</c:v>
                </c:pt>
                <c:pt idx="4">
                  <c:v>Wk5</c:v>
                </c:pt>
                <c:pt idx="5">
                  <c:v>Wk6</c:v>
                </c:pt>
                <c:pt idx="6">
                  <c:v>Wk7</c:v>
                </c:pt>
                <c:pt idx="7">
                  <c:v>Wk8</c:v>
                </c:pt>
                <c:pt idx="8">
                  <c:v>Wk9</c:v>
                </c:pt>
                <c:pt idx="9">
                  <c:v>Wk10</c:v>
                </c:pt>
                <c:pt idx="10">
                  <c:v>Wk11</c:v>
                </c:pt>
                <c:pt idx="11">
                  <c:v>Wk12</c:v>
                </c:pt>
                <c:pt idx="12">
                  <c:v>Wk13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508</c:v>
                </c:pt>
                <c:pt idx="1">
                  <c:v>511</c:v>
                </c:pt>
                <c:pt idx="2">
                  <c:v>498</c:v>
                </c:pt>
                <c:pt idx="3">
                  <c:v>480</c:v>
                </c:pt>
                <c:pt idx="4">
                  <c:v>545</c:v>
                </c:pt>
                <c:pt idx="5">
                  <c:v>541</c:v>
                </c:pt>
                <c:pt idx="6">
                  <c:v>662</c:v>
                </c:pt>
                <c:pt idx="7">
                  <c:v>1074</c:v>
                </c:pt>
                <c:pt idx="8">
                  <c:v>838</c:v>
                </c:pt>
                <c:pt idx="9">
                  <c:v>1018</c:v>
                </c:pt>
                <c:pt idx="10">
                  <c:v>815</c:v>
                </c:pt>
                <c:pt idx="11">
                  <c:v>1095</c:v>
                </c:pt>
                <c:pt idx="12">
                  <c:v>1405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2E-457D-B166-8592DC95E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D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5"/>
                    </a:solidFill>
                    <a:latin typeface="Arial"/>
                  </a:rPr>
                  <a:t>Sessions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D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SuperSport Live Events</c:v>
                </c:pt>
              </c:strCache>
            </c:strRef>
          </c:tx>
          <c:spPr>
            <a:solidFill>
              <a:srgbClr val="0E1F3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</c:v>
                </c:pt>
                <c:pt idx="1">
                  <c:v>148</c:v>
                </c:pt>
                <c:pt idx="2">
                  <c:v>97</c:v>
                </c:pt>
                <c:pt idx="3">
                  <c:v>366</c:v>
                </c:pt>
                <c:pt idx="4">
                  <c:v>408</c:v>
                </c:pt>
                <c:pt idx="5">
                  <c:v>346</c:v>
                </c:pt>
                <c:pt idx="6">
                  <c:v>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D0-4DF8-947D-959A6CD05D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ICC Cricket World Cup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</c:v>
                </c:pt>
                <c:pt idx="1">
                  <c:v>204</c:v>
                </c:pt>
                <c:pt idx="2">
                  <c:v>494</c:v>
                </c:pt>
                <c:pt idx="3">
                  <c:v>74</c:v>
                </c:pt>
                <c:pt idx="4">
                  <c:v>205</c:v>
                </c:pt>
                <c:pt idx="5">
                  <c:v>256</c:v>
                </c:pt>
                <c:pt idx="6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D0-4DF8-947D-959A6CD05D2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Channel O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136</c:v>
                </c:pt>
                <c:pt idx="1">
                  <c:v>131</c:v>
                </c:pt>
                <c:pt idx="2">
                  <c:v>175</c:v>
                </c:pt>
                <c:pt idx="3">
                  <c:v>153</c:v>
                </c:pt>
                <c:pt idx="4">
                  <c:v>178</c:v>
                </c:pt>
                <c:pt idx="5">
                  <c:v>136</c:v>
                </c:pt>
                <c:pt idx="6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D0-4DF8-947D-959A6CD05D2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Trace TV</c:v>
                </c:pt>
              </c:strCache>
            </c:strRef>
          </c:tx>
          <c:spPr>
            <a:solidFill>
              <a:srgbClr val="9AA6B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115</c:v>
                </c:pt>
                <c:pt idx="1">
                  <c:v>146</c:v>
                </c:pt>
                <c:pt idx="2">
                  <c:v>116</c:v>
                </c:pt>
                <c:pt idx="3">
                  <c:v>150</c:v>
                </c:pt>
                <c:pt idx="4">
                  <c:v>129</c:v>
                </c:pt>
                <c:pt idx="5">
                  <c:v>137</c:v>
                </c:pt>
                <c:pt idx="6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9D0-4DF8-947D-959A6CD05D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DE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5"/>
                    </a:solidFill>
                    <a:latin typeface="Arial"/>
                  </a:rPr>
                  <a:t>Sessions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D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[Bright_TV_Viewership_Query (5).csv]Sheet1!PivotTable2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0"/>
                <c:pt idx="0">
                  <c:v>Eastern Cape</c:v>
                </c:pt>
                <c:pt idx="1">
                  <c:v>Free State</c:v>
                </c:pt>
                <c:pt idx="2">
                  <c:v>Gauteng</c:v>
                </c:pt>
                <c:pt idx="3">
                  <c:v>Kwazulu Natal</c:v>
                </c:pt>
                <c:pt idx="4">
                  <c:v>Limpopo</c:v>
                </c:pt>
                <c:pt idx="5">
                  <c:v>Mpumalanga</c:v>
                </c:pt>
                <c:pt idx="6">
                  <c:v>None</c:v>
                </c:pt>
                <c:pt idx="7">
                  <c:v>North West</c:v>
                </c:pt>
                <c:pt idx="8">
                  <c:v>Northern Cape</c:v>
                </c:pt>
                <c:pt idx="9">
                  <c:v>Western Cape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0"/>
                <c:pt idx="0">
                  <c:v>690</c:v>
                </c:pt>
                <c:pt idx="1">
                  <c:v>292</c:v>
                </c:pt>
                <c:pt idx="2">
                  <c:v>3654</c:v>
                </c:pt>
                <c:pt idx="3">
                  <c:v>1001</c:v>
                </c:pt>
                <c:pt idx="4">
                  <c:v>763</c:v>
                </c:pt>
                <c:pt idx="5">
                  <c:v>918</c:v>
                </c:pt>
                <c:pt idx="6">
                  <c:v>263</c:v>
                </c:pt>
                <c:pt idx="7">
                  <c:v>344</c:v>
                </c:pt>
                <c:pt idx="8">
                  <c:v>230</c:v>
                </c:pt>
                <c:pt idx="9">
                  <c:v>1845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22-4B8F-8ED2-5026C4EE9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3980600"/>
        <c:axId val="343974120"/>
      </c:barChart>
      <c:catAx>
        <c:axId val="343980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3974120"/>
        <c:crosses val="autoZero"/>
        <c:auto val="1"/>
        <c:lblAlgn val="ctr"/>
        <c:lblOffset val="100"/>
        <c:noMultiLvlLbl val="0"/>
      </c:catAx>
      <c:valAx>
        <c:axId val="343974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3980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E1F3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Under 18</c:v>
                </c:pt>
                <c:pt idx="1">
                  <c:v>18-24</c:v>
                </c:pt>
                <c:pt idx="2">
                  <c:v>25-34</c:v>
                </c:pt>
                <c:pt idx="3">
                  <c:v>35-44</c:v>
                </c:pt>
                <c:pt idx="4">
                  <c:v>45-54</c:v>
                </c:pt>
                <c:pt idx="5">
                  <c:v>55+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216</c:v>
                </c:pt>
                <c:pt idx="1">
                  <c:v>1362</c:v>
                </c:pt>
                <c:pt idx="2">
                  <c:v>3729</c:v>
                </c:pt>
                <c:pt idx="3">
                  <c:v>2360</c:v>
                </c:pt>
                <c:pt idx="4">
                  <c:v>847</c:v>
                </c:pt>
                <c:pt idx="5">
                  <c:v>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94-43D5-BC7B-7D603595F3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Under 18</c:v>
                </c:pt>
                <c:pt idx="1">
                  <c:v>18-24</c:v>
                </c:pt>
                <c:pt idx="2">
                  <c:v>25-34</c:v>
                </c:pt>
                <c:pt idx="3">
                  <c:v>35-44</c:v>
                </c:pt>
                <c:pt idx="4">
                  <c:v>45-54</c:v>
                </c:pt>
                <c:pt idx="5">
                  <c:v>55+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63</c:v>
                </c:pt>
                <c:pt idx="1">
                  <c:v>122</c:v>
                </c:pt>
                <c:pt idx="2">
                  <c:v>416</c:v>
                </c:pt>
                <c:pt idx="3">
                  <c:v>271</c:v>
                </c:pt>
                <c:pt idx="4">
                  <c:v>80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94-43D5-BC7B-7D603595F3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DE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5"/>
                    </a:solidFill>
                    <a:latin typeface="Arial"/>
                  </a:rPr>
                  <a:t>Sessions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D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0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4846320"/>
            <a:ext cx="4023360" cy="4023360"/>
          </a:xfrm>
          <a:prstGeom prst="ellipse">
            <a:avLst/>
          </a:prstGeom>
          <a:ln w="15240">
            <a:solidFill>
              <a:srgbClr val="0F8B8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54312" y="4023360"/>
            <a:ext cx="5669280" cy="5669280"/>
          </a:xfrm>
          <a:prstGeom prst="ellipse">
            <a:avLst/>
          </a:prstGeom>
          <a:ln w="15240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1352" y="3200400"/>
            <a:ext cx="7315200" cy="7315200"/>
          </a:xfrm>
          <a:prstGeom prst="ellipse">
            <a:avLst/>
          </a:prstGeom>
          <a:ln w="15240">
            <a:solidFill>
              <a:srgbClr val="0F8B8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8392" y="2377440"/>
            <a:ext cx="8961120" cy="8961120"/>
          </a:xfrm>
          <a:prstGeom prst="ellipse">
            <a:avLst/>
          </a:prstGeom>
          <a:ln w="15240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Insights to Grow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Subscriber Base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4343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data-led view of who is watching, when, and why — with recommendations for CVM to act on this financial year.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5074920"/>
            <a:ext cx="1280160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Office of the CEO   •   Q1 2016 Viewership Data (SAST)                        Prepared by: Masetla Dineo       23/08/26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5681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933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CEO asked for this, and the questions CVM needs answered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25780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95681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78040" y="19933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3317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joins, and the cleaning that makes the numbers trustworthy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525780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3814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4747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consumption moves across days, hours and channels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310128"/>
            <a:ext cx="525780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343814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78040" y="34747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Province, age and gender profile of the 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91456"/>
            <a:ext cx="525780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91947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9560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consumption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29437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factors behind the peaks and the troughs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791456"/>
            <a:ext cx="525780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491947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2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178040" y="49560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529437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moves for low days, and initiatives to grow subscriptions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1F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subscription base this financial year.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 has asked for insights CVM can act on — grounded in real subscriber behaviour, not assumptions.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4617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FC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5166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sessions analysed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4617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4,448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5166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subscriber profiles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640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GUIDE THIS DECK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502920" cy="502920"/>
          </a:xfrm>
          <a:prstGeom prst="ellipse">
            <a:avLst/>
          </a:prstGeom>
          <a:solidFill>
            <a:srgbClr val="ED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617720" y="1856232"/>
            <a:ext cx="502920" cy="0"/>
          </a:xfrm>
          <a:prstGeom prst="line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349240" y="123444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user &amp; usage trends on BrightTV?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17720" y="2194560"/>
            <a:ext cx="68580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2468880"/>
            <a:ext cx="502920" cy="502920"/>
          </a:xfrm>
          <a:prstGeom prst="ellipse">
            <a:avLst/>
          </a:prstGeom>
          <a:solidFill>
            <a:srgbClr val="ED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4617720" y="3090672"/>
            <a:ext cx="502920" cy="0"/>
          </a:xfrm>
          <a:prstGeom prst="line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349240" y="24688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influence consumption?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3429000"/>
            <a:ext cx="68580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703320"/>
            <a:ext cx="502920" cy="502920"/>
          </a:xfrm>
          <a:prstGeom prst="ellipse">
            <a:avLst/>
          </a:prstGeom>
          <a:solidFill>
            <a:srgbClr val="ED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617720" y="4325112"/>
            <a:ext cx="502920" cy="0"/>
          </a:xfrm>
          <a:prstGeom prst="line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5349240" y="37033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 lifts the lowest-consumption days?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17720" y="4663440"/>
            <a:ext cx="68580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937760"/>
            <a:ext cx="502920" cy="502920"/>
          </a:xfrm>
          <a:prstGeom prst="ellipse">
            <a:avLst/>
          </a:prstGeom>
          <a:solidFill>
            <a:srgbClr val="EDF2F8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4617720" y="5559552"/>
            <a:ext cx="502920" cy="0"/>
          </a:xfrm>
          <a:prstGeom prst="line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5349240" y="49377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initiatives grow the subscriber base?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/>
              <a:t>DATA PREPROCESSING &amp; QUALITY CONTROL</a:t>
            </a:r>
          </a:p>
          <a:p>
            <a:pPr marL="0" indent="0">
              <a:buNone/>
            </a:pPr>
            <a:r>
              <a:rPr lang="en-US" sz="1200" dirty="0" err="1"/>
              <a:t>Standardisation</a:t>
            </a:r>
            <a:r>
              <a:rPr lang="en-US" sz="1200" dirty="0"/>
              <a:t>, deduplication  and validation applied prior to analysis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B448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incomplete profiles removed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8479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0 with no name, surname or handle — placeholder records, not real subscribers.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36792" y="1783080"/>
            <a:ext cx="365760" cy="365760"/>
          </a:xfrm>
          <a:prstGeom prst="ellipse">
            <a:avLst/>
          </a:prstGeom>
          <a:solidFill>
            <a:srgbClr val="B9832C"/>
          </a:solidFill>
          <a:ln/>
        </p:spPr>
      </p:sp>
      <p:sp>
        <p:nvSpPr>
          <p:cNvPr id="9" name="Text 7"/>
          <p:cNvSpPr/>
          <p:nvPr/>
        </p:nvSpPr>
        <p:spPr>
          <a:xfrm>
            <a:off x="6336792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6839712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exact duplicate sessions dropped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48272" y="1915354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UserID, channel, timestamp and duration — double-counted events.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15600"/>
            <a:ext cx="365760" cy="36576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640" y="28351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005840" y="28156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ID column ignored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72384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‘userid’ field disagreed with UserID0 in 485 rows; UserID0 joins cleanly to every profile, so it's the key of record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82512" y="2923951"/>
            <a:ext cx="365760" cy="365760"/>
          </a:xfrm>
          <a:prstGeom prst="ellipse">
            <a:avLst/>
          </a:prstGeom>
          <a:solidFill>
            <a:srgbClr val="B9832C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295200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858000" y="2937977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names standardised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48272" y="3138649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‘Supersport Live Events’ / ‘SuperSport Live Events’ and ‘SawSee’ / ‘Sawsee’ merged into one label each.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50792"/>
            <a:ext cx="365760" cy="36576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1" name="Text 19"/>
          <p:cNvSpPr/>
          <p:nvPr/>
        </p:nvSpPr>
        <p:spPr>
          <a:xfrm>
            <a:off x="532982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005840" y="401421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 vs. nulls unified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1498" y="4238307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Race and Province had both empty strings and true nulls (~700 rows each) — now treated as one ‘Unknown’ category.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36792" y="4151376"/>
            <a:ext cx="365760" cy="365760"/>
          </a:xfrm>
          <a:prstGeom prst="ellipse">
            <a:avLst/>
          </a:prstGeom>
          <a:solidFill>
            <a:srgbClr val="B4483A"/>
          </a:solidFill>
          <a:ln/>
        </p:spPr>
      </p:sp>
      <p:sp>
        <p:nvSpPr>
          <p:cNvPr id="25" name="Text 23"/>
          <p:cNvSpPr/>
          <p:nvPr/>
        </p:nvSpPr>
        <p:spPr>
          <a:xfrm>
            <a:off x="6366854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910922" y="4132587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 outliers (111–114) excluded from age analysis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80860" y="440114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session counts, excluded only from age-band charts to avoid distortion.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 is trending up, with sport-driven spikes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1732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6F7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12480" y="2039112"/>
            <a:ext cx="73152" cy="731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5"/>
          <p:cNvSpPr/>
          <p:nvPr/>
        </p:nvSpPr>
        <p:spPr>
          <a:xfrm>
            <a:off x="8613648" y="1892808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sessions grew from ~508 in week 1 to ~1,405 in week 13 — up nearly 3x over the quarter.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12480" y="2935224"/>
            <a:ext cx="73152" cy="731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8613648" y="27889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step-change happens from week 7 (late Feb) onward, right as live cricket and SuperSport fixture volume increases.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0" y="3831336"/>
            <a:ext cx="73152" cy="731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8613648" y="3685032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flat and steady through January, then accelerates in bursts tied to specific sport fixtures rather than a smooth trend.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Friday and the weekend carry the top channels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223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13526" y="155448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6F7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BEHIND 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1965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quietest day overall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0" y="22585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956 sessions vs. 1,673 on Friday — a 43% gap.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is the swing factor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0" y="349300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triples from midweek to Thu–Sat, and cricket peaks sharply on Wednesday — both tied to fixture schedules, not the calendar day itself.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0" y="4434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&amp; entertainment are steady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0" y="472744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 and Trace TV barely move day to day — a reliable base layer of consumption.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Gauteng and the Western Cape drive over half of viewership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59673" y="145126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SHARE OF SESSIONS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59673" y="1762506"/>
            <a:ext cx="4902688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.</a:t>
            </a:r>
            <a:r>
              <a:rPr lang="en-US" sz="1400" dirty="0"/>
              <a:t>Viewership in economically developed provinces Gauteng  and Western Cape recording  being higher</a:t>
            </a:r>
          </a:p>
        </p:txBody>
      </p:sp>
      <p:sp>
        <p:nvSpPr>
          <p:cNvPr id="8" name="Text 5"/>
          <p:cNvSpPr/>
          <p:nvPr/>
        </p:nvSpPr>
        <p:spPr>
          <a:xfrm>
            <a:off x="9692640" y="17830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692640" y="21168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59673" y="2554403"/>
            <a:ext cx="4650496" cy="437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.</a:t>
            </a:r>
            <a:r>
              <a:rPr lang="en-US" sz="1400" dirty="0"/>
              <a:t>Provinces with lower levels of economic development have lower viewership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92640" y="24505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59673" y="3417743"/>
            <a:ext cx="4902688" cy="760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.</a:t>
            </a:r>
            <a:r>
              <a:rPr lang="en-US" sz="1400" dirty="0"/>
              <a:t>Viewership is disproportionately concentrated in economically developed provinces, while lower-consumption levels are observed in less developed regions, suggesting that economic development may influence audience reach and consumption patterns.</a:t>
            </a:r>
          </a:p>
        </p:txBody>
      </p:sp>
      <p:sp>
        <p:nvSpPr>
          <p:cNvPr id="17" name="Text 14"/>
          <p:cNvSpPr/>
          <p:nvPr/>
        </p:nvSpPr>
        <p:spPr>
          <a:xfrm>
            <a:off x="9692640" y="27843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83680" y="31181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692640" y="31181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583680" y="34518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692640" y="34518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583680" y="37856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692640" y="37856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583680" y="4260761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692640" y="41193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583680" y="44531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9692640" y="4453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09360" y="4878324"/>
            <a:ext cx="530352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9360" y="50154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B98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+ Western Cape = 56.5% of all viewership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745689" y="52669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State, North West &amp; Northern Cape combined contribute under 9% — clear acquisition whitespace.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9D4251AE-132B-AB6C-7CEA-003FCD9C1F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0752789"/>
              </p:ext>
            </p:extLst>
          </p:nvPr>
        </p:nvGraphicFramePr>
        <p:xfrm>
          <a:off x="839243" y="1772793"/>
          <a:ext cx="4902688" cy="2983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audience is 25–44, and skews strongly male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7040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840480" cy="4160520"/>
          </a:xfrm>
          <a:prstGeom prst="roundRect">
            <a:avLst>
              <a:gd name="adj" fmla="val 1905"/>
            </a:avLst>
          </a:prstGeom>
          <a:solidFill>
            <a:srgbClr val="F6F7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HEADLINES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8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46720" y="26243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sessions come from male subscribers — a stark skew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32278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8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46720" y="3794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sessions sit in the 25–34 band alone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439826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8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046720" y="4965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sessions are from 45+ audiences — a clear growth pocket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factors explain most of the movement in consumption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16294D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83464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17922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triple between 4am and 8am, and hold high from 10am to 9pm. Overnight (2–4am) is dead air.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43784" y="187452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16294D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21031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08376" y="283464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08376" y="3383280"/>
            <a:ext cx="17922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runs 75% above Monday, the quietest day. Weekday evenings after work outperform weekday mornings.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38928" y="187452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16294D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1031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03520" y="283464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 fixtures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03520" y="3383280"/>
            <a:ext cx="17922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and cricket content cause the sharpest single-day spikes in the whole dataset — far more than any other genre.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34072" y="187452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16294D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21031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598664" y="283464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98664" y="3383280"/>
            <a:ext cx="17922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56.5% of sessions come from just two provinces — access and infrastructure concentration in Gauteng &amp; the Western Cape.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29216" y="187452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16294D"/>
          </a:solidFill>
          <a:ln w="12700">
            <a:solidFill>
              <a:srgbClr val="2436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66376" y="21031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893808" y="283464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profile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893808" y="3383280"/>
            <a:ext cx="17922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sessions come from male subscribers aged 25–44 — women and 45+ audiences are comparatively under-engaged.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Mondays and Sundays with scheduled, not random, content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15 lowest-consumption days in the quarter, 7 fall on a Monday and 4 on a Sunday — this is a pattern, not noise.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6F7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59152"/>
            <a:ext cx="365760" cy="36576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49808" y="285292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Replay Block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474720"/>
            <a:ext cx="23225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Re-air the weekend's top SuperSport &amp; cricket highlights at Monday prime time (6–9pm) to soften the post-weekend drop-off.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2424" y="210312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6F7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2359152"/>
            <a:ext cx="365760" cy="365760"/>
          </a:xfrm>
          <a:prstGeom prst="ellipse">
            <a:avLst/>
          </a:prstGeom>
          <a:solidFill>
            <a:srgbClr val="B9832C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3593592" y="285292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Family Slot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3474720"/>
            <a:ext cx="23225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Cartoon Network / Boomerang programming earlier into Sunday afternoon, when live-sport competition for attention is lower.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6208" y="210312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6F7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359152"/>
            <a:ext cx="365760" cy="365760"/>
          </a:xfrm>
          <a:prstGeom prst="ellipse">
            <a:avLst/>
          </a:prstGeom>
          <a:solidFill>
            <a:srgbClr val="0E1F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437376" y="285292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Reminders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37376" y="3474720"/>
            <a:ext cx="23225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SMS/app notifications on historically low days, timed to the 5–9pm peak window identified in the usage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79992" y="210312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6F7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359152"/>
            <a:ext cx="365760" cy="36576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9281160" y="285292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Countdown Slot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81160" y="3474720"/>
            <a:ext cx="23225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 and Channel O already hold steady daily audiences — anchor a flagship weekly countdown on Monday to build a habit.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initiatives to grow the subscriber 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1691640"/>
            <a:ext cx="4773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promote live sport rights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70432" y="2267712"/>
            <a:ext cx="4773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and cricket content drive the largest single spikes in the dataset. Lead acquisition marketing with major fixtures, and bundle sport access into new-subscriber offers.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67144" y="1691640"/>
            <a:ext cx="4773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under-represented provinces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67144" y="2267712"/>
            <a:ext cx="4773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State, North West and Northern Cape together supply under 9% of sessions. They can partner with regional telcos for zero-rated data or device bundles to unlock this whitespace.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cs typeface="Calibri" pitchFamily="34" charset="-120"/>
              </a:rPr>
              <a:t>.</a:t>
            </a:r>
            <a:r>
              <a:rPr lang="en-US" sz="1400" dirty="0">
                <a:solidFill>
                  <a:srgbClr val="5B6B85"/>
                </a:solidFill>
                <a:latin typeface="Calibri" pitchFamily="34" charset="0"/>
                <a:cs typeface="Calibri" pitchFamily="34" charset="-120"/>
              </a:rPr>
              <a:t>They  can make the subscription  cheaper/ have specials in these provinces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3794760"/>
            <a:ext cx="4773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content for the female and 45+ audience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70432" y="4370832"/>
            <a:ext cx="4773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segments are visibly under-engaged versus their likely share of the population. Test lifestyle and entertainment scheduling (E!, Africa Magic) in the day-parts where they're most likely to tune 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67144" y="3794760"/>
            <a:ext cx="4773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8.6% zero-duration sessions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867144" y="4370832"/>
            <a:ext cx="4773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12 sessions in the dataset end at 0 seconds — a likely sign of app/stream friction. Closing this gap protects retention before spend goes into acquiring new subscribers.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4472" y="-1554480"/>
            <a:ext cx="3108960" cy="3108960"/>
          </a:xfrm>
          <a:prstGeom prst="ellipse">
            <a:avLst/>
          </a:prstGeom>
          <a:ln w="15240">
            <a:solidFill>
              <a:srgbClr val="0F8B8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2952" y="-2286000"/>
            <a:ext cx="4572000" cy="4572000"/>
          </a:xfrm>
          <a:prstGeom prst="ellipse">
            <a:avLst/>
          </a:prstGeom>
          <a:ln w="15240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71432" y="-3017520"/>
            <a:ext cx="6035040" cy="6035040"/>
          </a:xfrm>
          <a:prstGeom prst="ellipse">
            <a:avLst/>
          </a:prstGeom>
          <a:ln w="15240">
            <a:solidFill>
              <a:srgbClr val="0F8B8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9912" y="-3749040"/>
            <a:ext cx="7498080" cy="7498080"/>
          </a:xfrm>
          <a:prstGeom prst="ellipse">
            <a:avLst/>
          </a:prstGeom>
          <a:ln w="15240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 is growing, sport-led,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concentrated in two provinces.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58368" y="34290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path to growing the subscription base is to lean harder into what already works — live sport and peak day-parts — while opening deliberate campaigns into the provinces and audience segments that remain under-served.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4663440"/>
            <a:ext cx="1280160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846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5852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1248</Words>
  <Application>Microsoft Office PowerPoint</Application>
  <PresentationFormat>Widescreen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Dineo Masetla</cp:lastModifiedBy>
  <cp:revision>2</cp:revision>
  <dcterms:created xsi:type="dcterms:W3CDTF">2026-08-19T21:30:21Z</dcterms:created>
  <dcterms:modified xsi:type="dcterms:W3CDTF">2026-08-23T17:21:42Z</dcterms:modified>
</cp:coreProperties>
</file>